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8" r:id="rId5"/>
    <p:sldId id="259" r:id="rId6"/>
    <p:sldId id="260" r:id="rId7"/>
    <p:sldId id="262" r:id="rId8"/>
    <p:sldId id="261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38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1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49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'VocaLearn ist ein Vokabeltrainer, den wir im Terminal bedienen. Wir haben ihn gebaut, weil wir bis Ende des 6. Semesters das B1-Zertifikat in Englisch brauchen — und wollten ein Werkzeug, das uns dabei gezielt hilft.' Kurz halten, ca.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28016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7498080" y="-365760"/>
            <a:ext cx="2377440" cy="2377440"/>
          </a:xfrm>
          <a:prstGeom prst="ellipse">
            <a:avLst/>
          </a:prstGeom>
          <a:solidFill>
            <a:srgbClr val="4DB6AC">
              <a:alpha val="28000"/>
            </a:srgbClr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440" cy="22860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749808" y="132588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VocaLearn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Vokabeltrainer für Englisch &amp; Französisch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2999232"/>
            <a:ext cx="5669280" cy="0"/>
          </a:xfrm>
          <a:prstGeom prst="line">
            <a:avLst/>
          </a:prstGeom>
          <a:noFill/>
          <a:ln w="1016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749808" y="31455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Valentino &amp; Erduan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5478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Projektpräsentation  |  17. Juni 2026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Projektvorstellung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VocaLearn und warum haben wir es gebaut?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02336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066544"/>
            <a:ext cx="82296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621792" y="199339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Terminalbasierter Vokabeltrainer in Python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82296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21792" y="24688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Vokabeln erstellen, verwalten &amp; abfragen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21792" y="294436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&amp; normaler Lernmodus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82296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21792" y="341985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Sprachen: Englisch &amp; Französisch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68496"/>
            <a:ext cx="82296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621792" y="389534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Niveaus: B1 und B2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437083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89025" y="1405745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22" name="Shape 20"/>
          <p:cNvSpPr/>
          <p:nvPr/>
        </p:nvSpPr>
        <p:spPr>
          <a:xfrm>
            <a:off x="4800600" y="1417320"/>
            <a:ext cx="4023360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4937760" y="14173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7760" y="2066544"/>
            <a:ext cx="82296" cy="822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5102352" y="209790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B1-Zertifikat Englisch </a:t>
            </a:r>
            <a:r>
              <a:rPr lang="en-US" sz="130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erforderlich</a:t>
            </a: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(bis Ende 6. Semester)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2632164"/>
            <a:ext cx="82296" cy="822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Text 27"/>
          <p:cNvSpPr/>
          <p:nvPr/>
        </p:nvSpPr>
        <p:spPr>
          <a:xfrm>
            <a:off x="5102352" y="255901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Gezieltes Üben nach Niveau möglich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3133778"/>
            <a:ext cx="82296" cy="822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9"/>
          <p:cNvSpPr/>
          <p:nvPr/>
        </p:nvSpPr>
        <p:spPr>
          <a:xfrm>
            <a:off x="5102352" y="3060635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nutzbar — keine Installation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37760" y="3615806"/>
            <a:ext cx="82296" cy="822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Text 31"/>
          <p:cNvSpPr/>
          <p:nvPr/>
        </p:nvSpPr>
        <p:spPr>
          <a:xfrm>
            <a:off x="5102352" y="354265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Vokabeln eintragen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37760" y="4104354"/>
            <a:ext cx="82296" cy="822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/>
          <p:nvPr/>
        </p:nvSpPr>
        <p:spPr>
          <a:xfrm>
            <a:off x="5102352" y="4037737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Praxisprojekt für OOP &amp; Datei-IO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Minimalziele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&amp;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Erweiterungen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02336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Minimalziele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481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66544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713232" y="197510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Vokabeln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erfassen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713232" y="245059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Speicherung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Laden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713232" y="2926080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Lernmodus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zufälliger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713232" y="3401568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Sofortiges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Feedback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713232" y="3877056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Anzeige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richtigen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falschen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Antworten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435254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00600" y="14173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4800600" y="1417320"/>
            <a:ext cx="4023360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4937760" y="14173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Implementierte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Erweiterungen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2066544"/>
            <a:ext cx="18288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5193792" y="197510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937760" y="2514600"/>
            <a:ext cx="18288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5193792" y="2423160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Zufällige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Fragenauswahl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random.sample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937760" y="2962656"/>
            <a:ext cx="18288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5193792" y="2851761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Modus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random.shuffle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37760" y="3410712"/>
            <a:ext cx="18288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5193792" y="331927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falscher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Antworten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937760" y="3858768"/>
            <a:ext cx="18288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32"/>
          <p:cNvSpPr/>
          <p:nvPr/>
        </p:nvSpPr>
        <p:spPr>
          <a:xfrm>
            <a:off x="5193792" y="3734805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Vokabeln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löschen</a:t>
            </a:r>
            <a:endParaRPr lang="en-US" sz="1250" dirty="0"/>
          </a:p>
        </p:txBody>
      </p:sp>
      <p:sp>
        <p:nvSpPr>
          <p:cNvPr id="37" name="Shape 35new"/>
          <p:cNvSpPr/>
          <p:nvPr/>
        </p:nvSpPr>
        <p:spPr>
          <a:xfrm>
            <a:off x="4937760" y="4273653"/>
            <a:ext cx="18288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8" name="Text 36new"/>
          <p:cNvSpPr/>
          <p:nvPr/>
        </p:nvSpPr>
        <p:spPr>
          <a:xfrm>
            <a:off x="5193792" y="4163925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Vokabelliste</a:t>
            </a: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anzeigen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937760" y="4681728"/>
            <a:ext cx="18288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34"/>
          <p:cNvSpPr/>
          <p:nvPr/>
        </p:nvSpPr>
        <p:spPr>
          <a:xfrm>
            <a:off x="5193792" y="457657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</a:t>
            </a:r>
            <a:r>
              <a:rPr lang="en-US" sz="125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Lernstatistik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Mögliche</a:t>
            </a:r>
            <a:r>
              <a:rPr lang="en-US" sz="2200" b="1" dirty="0">
                <a:solidFill>
                  <a:srgbClr val="FFFFFF"/>
                </a:solidFill>
              </a:rPr>
              <a:t> Erweiterungen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044"/>
                </a:solidFill>
              </a:rPr>
              <a:t>  </a:t>
            </a:r>
            <a:r>
              <a:rPr lang="en-US" sz="1600" b="1" dirty="0" err="1">
                <a:solidFill>
                  <a:srgbClr val="0F2044"/>
                </a:solidFill>
              </a:rPr>
              <a:t>Mögliche</a:t>
            </a:r>
            <a:r>
              <a:rPr lang="en-US" sz="1600" b="1" dirty="0">
                <a:solidFill>
                  <a:srgbClr val="0F2044"/>
                </a:solidFill>
              </a:rPr>
              <a:t> Erweiterungen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1261872"/>
            <a:ext cx="8412480" cy="438912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02920" y="128016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  GUI-Version (tkinter / web)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1764792"/>
            <a:ext cx="8412480" cy="438912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02920" y="178308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  Benutzerkonten &amp; Profile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267712"/>
            <a:ext cx="8412480" cy="438912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2920" y="228600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  Weitere Sprachen &amp; Kategorien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770632"/>
            <a:ext cx="8412480" cy="438912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02920" y="27889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  Vokabeln direkt bearbeiten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8412480" cy="438912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02920" y="32918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  Fortschritt &amp; Punktesystem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Code-Aufbau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411480" y="93268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 Struktur — 3 Python-Dateien + JSON/CSV-</a:t>
            </a:r>
            <a:r>
              <a:rPr lang="en-US" sz="1300" i="1" dirty="0" err="1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353312"/>
            <a:ext cx="2743200" cy="3657600"/>
          </a:xfrm>
          <a:prstGeom prst="rect">
            <a:avLst/>
          </a:prstGeom>
          <a:solidFill>
            <a:srgbClr val="F4F7FA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292608" y="1353312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420624" y="13533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vocalearn.py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" y="162763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Hauptprogramm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938528"/>
            <a:ext cx="2377440" cy="0"/>
          </a:xfrm>
          <a:prstGeom prst="line">
            <a:avLst/>
          </a:prstGeom>
          <a:noFill/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75488" y="2029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hauptmenue()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212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Menüsteuerung &amp; Navigation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neue_vokabel_hinzufügen()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6151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Eingabe, Validierung,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Speichern</a:t>
            </a:r>
            <a:endParaRPr lang="en-US" sz="105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vokabel_löschen()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017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Auswahl und Löschen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3574251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lernen_starten()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3757131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Gesamte Quiz-Logik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946607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CSV-Statistik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413698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Ergebnis speichern &amp;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öffnen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1353312"/>
            <a:ext cx="2743200" cy="3657600"/>
          </a:xfrm>
          <a:prstGeom prst="rect">
            <a:avLst/>
          </a:prstGeom>
          <a:solidFill>
            <a:srgbClr val="F4F7FA"/>
          </a:solidFill>
          <a:ln w="25400">
            <a:solidFill>
              <a:srgbClr val="6D28D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21" name="Shape 19"/>
          <p:cNvSpPr/>
          <p:nvPr/>
        </p:nvSpPr>
        <p:spPr>
          <a:xfrm>
            <a:off x="3200400" y="1353312"/>
            <a:ext cx="2743200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3328416" y="13533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vokabel.py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28416" y="162763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 Vokabel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1938528"/>
            <a:ext cx="2377440" cy="0"/>
          </a:xfrm>
          <a:prstGeom prst="line">
            <a:avLst/>
          </a:prstGeom>
          <a:noFill/>
          <a:ln w="12700">
            <a:solidFill>
              <a:srgbClr val="6D28D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3383280" y="2029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22494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CH" sz="1050" dirty="0"/>
              <a:t>Erstellt ein Vokabel-Objekt</a:t>
            </a:r>
            <a:endParaRPr lang="en-US" sz="10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Attribute: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antwort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kategorie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83280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pruefe_antwort()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017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CH" sz="1050" dirty="0"/>
              <a:t>Prüft die Benutzerantwort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83280" y="31925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gibt True / False zurück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83280" y="3639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in_dictionary_umwandeln()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3822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CH" sz="1050" dirty="0"/>
              <a:t>Wandelt Vokabel in JSON um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08192" y="1353312"/>
            <a:ext cx="2743200" cy="3657600"/>
          </a:xfrm>
          <a:prstGeom prst="rect">
            <a:avLst/>
          </a:prstGeom>
          <a:solidFill>
            <a:srgbClr val="F4F7FA"/>
          </a:solidFill>
          <a:ln w="254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34" name="Shape 32"/>
          <p:cNvSpPr/>
          <p:nvPr/>
        </p:nvSpPr>
        <p:spPr>
          <a:xfrm>
            <a:off x="6108192" y="1353312"/>
            <a:ext cx="274320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/>
          <p:nvPr/>
        </p:nvSpPr>
        <p:spPr>
          <a:xfrm>
            <a:off x="6236208" y="13533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datenbank.py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6208" y="162763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JSON-Datenbank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91072" y="1938528"/>
            <a:ext cx="2377440" cy="0"/>
          </a:xfrm>
          <a:prstGeom prst="line">
            <a:avLst/>
          </a:prstGeom>
          <a:noFill/>
          <a:ln w="12700">
            <a:solidFill>
              <a:srgbClr val="2563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8" name="Text 36"/>
          <p:cNvSpPr/>
          <p:nvPr/>
        </p:nvSpPr>
        <p:spPr>
          <a:xfrm>
            <a:off x="6291072" y="2029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lade_vokabeln()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91072" y="2212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CH" sz="1050" dirty="0"/>
              <a:t>Lädt gespeicherte Vokabeln aus der JSON-Datei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91072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speichere_vokabeln()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91072" y="3017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CH" sz="1050" dirty="0"/>
              <a:t>Speichert alle Vokabeln dauerhaft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91072" y="3639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Pfad-Handling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91072" y="3822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CH" sz="1050" dirty="0"/>
              <a:t>Ermittelt den korrekten Dateipfad</a:t>
            </a:r>
          </a:p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os.path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sz="10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AD3ED0F3-D2AD-DAEE-5EA4-8AB3252D6253}"/>
              </a:ext>
            </a:extLst>
          </p:cNvPr>
          <p:cNvSpPr/>
          <p:nvPr/>
        </p:nvSpPr>
        <p:spPr>
          <a:xfrm>
            <a:off x="475488" y="3201597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CH" sz="1200" b="1" dirty="0" err="1">
                <a:solidFill>
                  <a:srgbClr val="1A2D4A"/>
                </a:solidFill>
              </a:rPr>
              <a:t>gespeicherte_vokabeln_anzeigen</a:t>
            </a:r>
            <a:r>
              <a:rPr lang="de-CH" sz="1200" b="1" dirty="0">
                <a:solidFill>
                  <a:srgbClr val="1A2D4A"/>
                </a:solidFill>
              </a:rPr>
              <a:t>()</a:t>
            </a: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B7B5B5CB-251B-72CD-777C-0ACC50645DE4}"/>
              </a:ext>
            </a:extLst>
          </p:cNvPr>
          <p:cNvSpPr/>
          <p:nvPr/>
        </p:nvSpPr>
        <p:spPr>
          <a:xfrm>
            <a:off x="475488" y="3363045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CH" sz="1050" dirty="0"/>
              <a:t>Gespeicherte Vokabeln anzeigen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Code-Einblick: Lernmodus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 der Funktion lernen_starten() — Schwerpunkt der Präsentation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1325880"/>
            <a:ext cx="1188720" cy="11887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21792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1920240"/>
            <a:ext cx="47548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65760" y="261518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980944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Englisch /</a:t>
            </a:r>
            <a:r>
              <a:rPr lang="en-US" sz="1100" dirty="0"/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Französisch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/</a:t>
            </a:r>
            <a:r>
              <a:rPr lang="en-US" sz="1100" dirty="0"/>
              <a:t>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22576" y="1325880"/>
            <a:ext cx="1188720" cy="1188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2322576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529584" y="1920240"/>
            <a:ext cx="47548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2066544" y="261518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099199" y="2980944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Fragen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/</a:t>
            </a:r>
            <a:r>
              <a:rPr lang="en-US" sz="1100" dirty="0"/>
              <a:t>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Fragen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/</a:t>
            </a:r>
            <a:r>
              <a:rPr lang="en-US" sz="1100" dirty="0"/>
              <a:t>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1325880"/>
            <a:ext cx="1188720" cy="11887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4023360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230368" y="1920240"/>
            <a:ext cx="47548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3767328" y="261518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67328" y="2980944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B1 /</a:t>
            </a:r>
            <a:r>
              <a:rPr lang="en-US" sz="1100" dirty="0"/>
              <a:t>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B2 /</a:t>
            </a:r>
            <a:r>
              <a:rPr lang="en-US" sz="1100" dirty="0"/>
              <a:t>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24144" y="13258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5724144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931152" y="1920240"/>
            <a:ext cx="47548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5468112" y="261518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Lernmodus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68112" y="2980944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Normal /</a:t>
            </a:r>
            <a:r>
              <a:rPr lang="en-US" sz="1100" dirty="0"/>
              <a:t>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r>
              <a:rPr lang="en-US" sz="1100" dirty="0"/>
              <a:t>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24928" y="1325880"/>
            <a:ext cx="1188720" cy="11887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7424928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168896" y="261518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25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168896" y="305931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de-CH" sz="1100" dirty="0"/>
              <a:t>Quiz abschliessen &amp; Statistik zeigen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767328"/>
            <a:ext cx="8412480" cy="1170432"/>
          </a:xfrm>
          <a:prstGeom prst="rect">
            <a:avLst/>
          </a:prstGeom>
          <a:solidFill>
            <a:srgbClr val="F0FDF9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Shape 29"/>
          <p:cNvSpPr/>
          <p:nvPr/>
        </p:nvSpPr>
        <p:spPr>
          <a:xfrm>
            <a:off x="365760" y="3767328"/>
            <a:ext cx="10972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594360" y="38404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sz="1400" b="1" dirty="0"/>
              <a:t>Technische Details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41330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CH" sz="1100" dirty="0"/>
              <a:t>Mit </a:t>
            </a:r>
            <a:r>
              <a:rPr lang="de-CH" sz="1100" dirty="0" err="1"/>
              <a:t>random.sample</a:t>
            </a:r>
            <a:r>
              <a:rPr lang="de-CH" sz="1100" dirty="0"/>
              <a:t>() werden zufällige Vokabeln ausgewählt. </a:t>
            </a:r>
            <a:br>
              <a:rPr lang="de-CH" sz="1100" dirty="0"/>
            </a:br>
            <a:r>
              <a:rPr lang="de-CH" sz="1100" dirty="0"/>
              <a:t>Im Multiple-Choice-Modus erzeugt das Programm zusätzlich drei falsche Antwortmöglichkeiten. </a:t>
            </a:r>
            <a:br>
              <a:rPr lang="de-CH" sz="1100" dirty="0"/>
            </a:br>
            <a:r>
              <a:rPr lang="de-CH" sz="1100" dirty="0"/>
              <a:t>Anschliessend mischt </a:t>
            </a:r>
            <a:r>
              <a:rPr lang="de-CH" sz="1100" dirty="0" err="1"/>
              <a:t>random.shuffle</a:t>
            </a:r>
            <a:r>
              <a:rPr lang="de-CH" sz="1100" dirty="0"/>
              <a:t>() alle Antworten, sodass jedes Quiz unterschiedlich ist. </a:t>
            </a:r>
            <a:br>
              <a:rPr lang="de-CH" sz="1100" dirty="0"/>
            </a:br>
            <a:r>
              <a:rPr lang="de-CH" sz="1100" dirty="0"/>
              <a:t>Falsch beantwortete Vokabeln werden am Ende nochmals wiederholt.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6217920" y="2011680"/>
            <a:ext cx="4114800" cy="41148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Live-Demo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286000" y="2852928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VocaLearn in Aktion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941" y="4023360"/>
            <a:ext cx="89341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400" dirty="0" err="1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Vokabel</a:t>
            </a:r>
            <a:r>
              <a:rPr lang="en-US" sz="14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hinzufügen</a:t>
            </a:r>
            <a:r>
              <a:rPr lang="en-US" sz="14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dirty="0" err="1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löschen</a:t>
            </a:r>
            <a:r>
              <a:rPr lang="en-US" sz="14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2 </a:t>
            </a:r>
            <a:r>
              <a:rPr lang="en-US" sz="1400" dirty="0" err="1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Vokabelliste</a:t>
            </a:r>
            <a:r>
              <a:rPr lang="en-US" sz="14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anzeigen</a:t>
            </a:r>
            <a:r>
              <a:rPr lang="en-US" sz="14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 3  Lernmodus starten   |   4  Ergebnis und Statistik anzeigen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Teamorganisation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Aufgabenverteilung, Zusammenarbeit und Erkenntnisse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0690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40690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Valentino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12264"/>
            <a:ext cx="82296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621792" y="20391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Hauptverantwortung Programmlogik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82296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21792" y="24963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 und CSV-Handling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82296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21792" y="29535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Hauptmenue und alle Kernfunktionen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82296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21792" y="34107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(README)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444752"/>
            <a:ext cx="40690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4754880" y="1444752"/>
            <a:ext cx="4069080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892040" y="144475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Erduan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2112264"/>
            <a:ext cx="82296" cy="822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5056632" y="20391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und Modulstruktur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2569464"/>
            <a:ext cx="82296" cy="822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5056632" y="24963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Testläufe und Debugging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3026664"/>
            <a:ext cx="82296" cy="822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5056632" y="29535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UI-Feinschliff und Benutzerführung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3483864"/>
            <a:ext cx="82296" cy="822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5056632" y="34107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 und Git-Verwaltung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096512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Text 27"/>
          <p:cNvSpPr/>
          <p:nvPr/>
        </p:nvSpPr>
        <p:spPr>
          <a:xfrm>
            <a:off x="457200" y="4133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gut lief: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74520" y="4133088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CH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klar verteilt, gute Teamarbeit und Projekt erfolgreich umgesetzt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599432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457200" y="4636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Herausforderungen: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74520" y="460857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CH" sz="120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de-CH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-Merges gelöst, Fehler behoben und Funktionen laufend verbessert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</a:rPr>
              <a:t>Fazit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</a:rPr>
              <a:t> &amp;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</a:rPr>
              <a:t>Erkenntnisse</a:t>
            </a:r>
            <a:endParaRPr lang="en-US" sz="2800" dirty="0"/>
          </a:p>
        </p:txBody>
      </p:sp>
      <p:sp>
        <p:nvSpPr>
          <p:cNvPr id="5" name="Label"/>
          <p:cNvSpPr/>
          <p:nvPr/>
        </p:nvSpPr>
        <p:spPr>
          <a:xfrm>
            <a:off x="320040" y="1080000"/>
            <a:ext cx="8503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0" name="C1bg"/>
          <p:cNvSpPr/>
          <p:nvPr/>
        </p:nvSpPr>
        <p:spPr>
          <a:xfrm>
            <a:off x="320040" y="1739000"/>
            <a:ext cx="4343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C1acc"/>
          <p:cNvSpPr/>
          <p:nvPr/>
        </p:nvSpPr>
        <p:spPr>
          <a:xfrm>
            <a:off x="320040" y="1739000"/>
            <a:ext cx="3810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1"/>
          <p:cNvSpPr/>
          <p:nvPr/>
        </p:nvSpPr>
        <p:spPr>
          <a:xfrm>
            <a:off x="434880" y="1739000"/>
            <a:ext cx="4229040" cy="640080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Trebuchet MS" pitchFamily="34" charset="0"/>
              </a:rPr>
              <a:t>  </a:t>
            </a:r>
            <a:r>
              <a:rPr lang="en-US" sz="1100" b="1" dirty="0">
                <a:solidFill>
                  <a:srgbClr val="1A2E4A"/>
                </a:solidFill>
                <a:latin typeface="Trebuchet MS" pitchFamily="34" charset="0"/>
              </a:rPr>
              <a:t>Python </a:t>
            </a:r>
            <a:r>
              <a:rPr lang="en-US" sz="1100" b="1" dirty="0" err="1">
                <a:solidFill>
                  <a:srgbClr val="1A2E4A"/>
                </a:solidFill>
                <a:latin typeface="Trebuchet MS" pitchFamily="34" charset="0"/>
              </a:rPr>
              <a:t>mit</a:t>
            </a:r>
            <a:r>
              <a:rPr lang="en-US" sz="1100" b="1" dirty="0">
                <a:solidFill>
                  <a:srgbClr val="1A2E4A"/>
                </a:solidFill>
                <a:latin typeface="Trebuchet MS" pitchFamily="34" charset="0"/>
              </a:rPr>
              <a:t> Klassen </a:t>
            </a:r>
            <a:r>
              <a:rPr lang="en-US" sz="1100" b="1" dirty="0" err="1">
                <a:solidFill>
                  <a:srgbClr val="1A2E4A"/>
                </a:solidFill>
                <a:latin typeface="Trebuchet MS" pitchFamily="34" charset="0"/>
              </a:rPr>
              <a:t>anwenden</a:t>
            </a:r>
            <a:endParaRPr lang="en-US" sz="1100" dirty="0"/>
          </a:p>
        </p:txBody>
      </p:sp>
      <p:sp>
        <p:nvSpPr>
          <p:cNvPr id="20" name="C2bg"/>
          <p:cNvSpPr/>
          <p:nvPr/>
        </p:nvSpPr>
        <p:spPr>
          <a:xfrm>
            <a:off x="4754880" y="1739000"/>
            <a:ext cx="4343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C2acc"/>
          <p:cNvSpPr/>
          <p:nvPr/>
        </p:nvSpPr>
        <p:spPr>
          <a:xfrm>
            <a:off x="4754880" y="1739000"/>
            <a:ext cx="3810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ext2"/>
          <p:cNvSpPr/>
          <p:nvPr/>
        </p:nvSpPr>
        <p:spPr>
          <a:xfrm>
            <a:off x="4869720" y="1739000"/>
            <a:ext cx="4229040" cy="640080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Trebuchet MS" pitchFamily="34" charset="0"/>
              </a:rPr>
              <a:t>  </a:t>
            </a:r>
            <a:r>
              <a:rPr lang="en-US" sz="1100" b="1" dirty="0">
                <a:solidFill>
                  <a:srgbClr val="1A2E4A"/>
                </a:solidFill>
                <a:latin typeface="Trebuchet MS" pitchFamily="34" charset="0"/>
              </a:rPr>
              <a:t>Zusammenarbeit </a:t>
            </a:r>
            <a:r>
              <a:rPr lang="en-US" sz="1100" b="1" dirty="0" err="1">
                <a:solidFill>
                  <a:srgbClr val="1A2E4A"/>
                </a:solidFill>
                <a:latin typeface="Trebuchet MS" pitchFamily="34" charset="0"/>
              </a:rPr>
              <a:t>mit</a:t>
            </a:r>
            <a:r>
              <a:rPr lang="en-US" sz="1100" b="1" dirty="0">
                <a:solidFill>
                  <a:srgbClr val="1A2E4A"/>
                </a:solidFill>
                <a:latin typeface="Trebuchet MS" pitchFamily="34" charset="0"/>
              </a:rPr>
              <a:t> Git &amp; GitHub</a:t>
            </a:r>
            <a:endParaRPr lang="en-US" sz="1100" dirty="0"/>
          </a:p>
        </p:txBody>
      </p:sp>
      <p:sp>
        <p:nvSpPr>
          <p:cNvPr id="30" name="C3bg"/>
          <p:cNvSpPr/>
          <p:nvPr/>
        </p:nvSpPr>
        <p:spPr>
          <a:xfrm>
            <a:off x="320040" y="2738000"/>
            <a:ext cx="4343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C3acc"/>
          <p:cNvSpPr/>
          <p:nvPr/>
        </p:nvSpPr>
        <p:spPr>
          <a:xfrm>
            <a:off x="320040" y="2738000"/>
            <a:ext cx="3810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3"/>
          <p:cNvSpPr/>
          <p:nvPr/>
        </p:nvSpPr>
        <p:spPr>
          <a:xfrm>
            <a:off x="434880" y="2738000"/>
            <a:ext cx="4229040" cy="640080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Trebuchet MS" pitchFamily="34" charset="0"/>
              </a:rPr>
              <a:t>  </a:t>
            </a:r>
            <a:r>
              <a:rPr lang="en-US" sz="1100" b="1" dirty="0" err="1">
                <a:solidFill>
                  <a:srgbClr val="1A2E4A"/>
                </a:solidFill>
                <a:latin typeface="Trebuchet MS" pitchFamily="34" charset="0"/>
              </a:rPr>
              <a:t>Daten</a:t>
            </a:r>
            <a:r>
              <a:rPr lang="en-US" sz="1100" b="1" dirty="0">
                <a:solidFill>
                  <a:srgbClr val="1A2E4A"/>
                </a:solidFill>
                <a:latin typeface="Trebuchet MS" pitchFamily="34" charset="0"/>
              </a:rPr>
              <a:t> </a:t>
            </a:r>
            <a:r>
              <a:rPr lang="en-US" sz="1100" b="1" dirty="0" err="1">
                <a:solidFill>
                  <a:srgbClr val="1A2E4A"/>
                </a:solidFill>
                <a:latin typeface="Trebuchet MS" pitchFamily="34" charset="0"/>
              </a:rPr>
              <a:t>mit</a:t>
            </a:r>
            <a:r>
              <a:rPr lang="en-US" sz="1100" b="1" dirty="0">
                <a:solidFill>
                  <a:srgbClr val="1A2E4A"/>
                </a:solidFill>
                <a:latin typeface="Trebuchet MS" pitchFamily="34" charset="0"/>
              </a:rPr>
              <a:t> JSON </a:t>
            </a:r>
            <a:r>
              <a:rPr lang="en-US" sz="1100" b="1" dirty="0" err="1">
                <a:solidFill>
                  <a:srgbClr val="1A2E4A"/>
                </a:solidFill>
                <a:latin typeface="Trebuchet MS" pitchFamily="34" charset="0"/>
              </a:rPr>
              <a:t>speichern</a:t>
            </a:r>
            <a:endParaRPr lang="en-US" sz="1100" dirty="0"/>
          </a:p>
        </p:txBody>
      </p:sp>
      <p:sp>
        <p:nvSpPr>
          <p:cNvPr id="40" name="C4bg"/>
          <p:cNvSpPr/>
          <p:nvPr/>
        </p:nvSpPr>
        <p:spPr>
          <a:xfrm>
            <a:off x="4754880" y="2738000"/>
            <a:ext cx="4343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C4acc"/>
          <p:cNvSpPr/>
          <p:nvPr/>
        </p:nvSpPr>
        <p:spPr>
          <a:xfrm>
            <a:off x="4754880" y="2738000"/>
            <a:ext cx="3810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4"/>
          <p:cNvSpPr/>
          <p:nvPr/>
        </p:nvSpPr>
        <p:spPr>
          <a:xfrm>
            <a:off x="4869720" y="2738000"/>
            <a:ext cx="4229040" cy="640080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Trebuchet MS" pitchFamily="34" charset="0"/>
              </a:rPr>
              <a:t>  </a:t>
            </a:r>
            <a:r>
              <a:rPr lang="en-US" sz="1100" b="1" dirty="0">
                <a:solidFill>
                  <a:srgbClr val="1A2E4A"/>
                </a:solidFill>
                <a:latin typeface="Trebuchet MS" pitchFamily="34" charset="0"/>
              </a:rPr>
              <a:t>Fehler </a:t>
            </a:r>
            <a:r>
              <a:rPr lang="en-US" sz="1100" b="1" dirty="0" err="1">
                <a:solidFill>
                  <a:srgbClr val="1A2E4A"/>
                </a:solidFill>
                <a:latin typeface="Trebuchet MS" pitchFamily="34" charset="0"/>
              </a:rPr>
              <a:t>behandeln</a:t>
            </a:r>
            <a:r>
              <a:rPr lang="en-US" sz="1100" b="1" dirty="0">
                <a:solidFill>
                  <a:srgbClr val="1A2E4A"/>
                </a:solidFill>
                <a:latin typeface="Trebuchet MS" pitchFamily="34" charset="0"/>
              </a:rPr>
              <a:t> und </a:t>
            </a:r>
            <a:r>
              <a:rPr lang="en-US" sz="1100" b="1" dirty="0" err="1">
                <a:solidFill>
                  <a:srgbClr val="1A2E4A"/>
                </a:solidFill>
                <a:latin typeface="Trebuchet MS" pitchFamily="34" charset="0"/>
              </a:rPr>
              <a:t>testen</a:t>
            </a:r>
            <a:endParaRPr lang="en-US" sz="1100" dirty="0"/>
          </a:p>
        </p:txBody>
      </p:sp>
      <p:sp>
        <p:nvSpPr>
          <p:cNvPr id="50" name="C5bg"/>
          <p:cNvSpPr/>
          <p:nvPr/>
        </p:nvSpPr>
        <p:spPr>
          <a:xfrm>
            <a:off x="320040" y="3737000"/>
            <a:ext cx="4343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" name="C5acc"/>
          <p:cNvSpPr/>
          <p:nvPr/>
        </p:nvSpPr>
        <p:spPr>
          <a:xfrm>
            <a:off x="320040" y="3737000"/>
            <a:ext cx="3810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ext5"/>
          <p:cNvSpPr/>
          <p:nvPr/>
        </p:nvSpPr>
        <p:spPr>
          <a:xfrm>
            <a:off x="434880" y="3737000"/>
            <a:ext cx="4229040" cy="640080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Trebuchet MS" pitchFamily="34" charset="0"/>
              </a:rPr>
              <a:t>  </a:t>
            </a:r>
            <a:r>
              <a:rPr lang="de-CH" sz="1100" b="1" dirty="0">
                <a:solidFill>
                  <a:srgbClr val="1A2E4A"/>
                </a:solidFill>
                <a:latin typeface="Trebuchet MS" pitchFamily="34" charset="0"/>
              </a:rPr>
              <a:t>Projekt in mehrere Dateien aufteilen</a:t>
            </a:r>
            <a:endParaRPr lang="en-US" sz="1100" dirty="0"/>
          </a:p>
        </p:txBody>
      </p:sp>
      <p:sp>
        <p:nvSpPr>
          <p:cNvPr id="60" name="C6bg"/>
          <p:cNvSpPr/>
          <p:nvPr/>
        </p:nvSpPr>
        <p:spPr>
          <a:xfrm>
            <a:off x="4754880" y="3737000"/>
            <a:ext cx="4343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1" name="C6acc"/>
          <p:cNvSpPr/>
          <p:nvPr/>
        </p:nvSpPr>
        <p:spPr>
          <a:xfrm>
            <a:off x="4754880" y="3737000"/>
            <a:ext cx="3810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Text6"/>
          <p:cNvSpPr/>
          <p:nvPr/>
        </p:nvSpPr>
        <p:spPr>
          <a:xfrm>
            <a:off x="4869720" y="3737000"/>
            <a:ext cx="4229040" cy="640080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latin typeface="Trebuchet MS" pitchFamily="34" charset="0"/>
              </a:rPr>
              <a:t>Benutzerfreundliches</a:t>
            </a:r>
            <a:r>
              <a:rPr lang="en-US" sz="1100" b="1" dirty="0">
                <a:latin typeface="Trebuchet MS" pitchFamily="34" charset="0"/>
              </a:rPr>
              <a:t> </a:t>
            </a:r>
            <a:r>
              <a:rPr lang="en-US" sz="1100" b="1" dirty="0" err="1">
                <a:latin typeface="Trebuchet MS" pitchFamily="34" charset="0"/>
              </a:rPr>
              <a:t>Lernprogramm</a:t>
            </a:r>
            <a:r>
              <a:rPr lang="en-US" sz="1100" b="1" dirty="0">
                <a:latin typeface="Trebuchet MS" pitchFamily="34" charset="0"/>
              </a:rPr>
              <a:t> </a:t>
            </a:r>
            <a:r>
              <a:rPr lang="en-US" sz="1100" b="1" dirty="0" err="1">
                <a:latin typeface="Trebuchet MS" pitchFamily="34" charset="0"/>
              </a:rPr>
              <a:t>entwickeln</a:t>
            </a:r>
            <a:endParaRPr lang="en-US" sz="1100" b="1" dirty="0"/>
          </a:p>
        </p:txBody>
      </p:sp>
      <p:sp>
        <p:nvSpPr>
          <p:cNvPr id="36" name="Shape 34"/>
          <p:cNvSpPr/>
          <p:nvPr/>
        </p:nvSpPr>
        <p:spPr>
          <a:xfrm>
            <a:off x="339090" y="4576572"/>
            <a:ext cx="850392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/>
          <a:lstStyle/>
          <a:p>
            <a:endParaRPr lang="de-CH"/>
          </a:p>
        </p:txBody>
      </p:sp>
      <p:sp>
        <p:nvSpPr>
          <p:cNvPr id="37" name="Text 35"/>
          <p:cNvSpPr/>
          <p:nvPr/>
        </p:nvSpPr>
        <p:spPr>
          <a:xfrm>
            <a:off x="228600" y="448513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Vielen Dank für </a:t>
            </a:r>
            <a:r>
              <a:rPr lang="en-US" sz="1400" b="1" dirty="0" err="1">
                <a:solidFill>
                  <a:srgbClr val="FFFFFF"/>
                </a:solidFill>
                <a:latin typeface="Trebuchet MS" pitchFamily="34" charset="0"/>
              </a:rPr>
              <a:t>eure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Trebuchet MS" pitchFamily="34" charset="0"/>
              </a:rPr>
              <a:t>Aufmerksamkeit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!  |  Fragen?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Microsoft Macintosh PowerPoint</Application>
  <PresentationFormat>Bildschirmpräsentation (16:9)</PresentationFormat>
  <Paragraphs>132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VocaLearn</dc:title>
  <dc:subject>PptxGenJS Presentation</dc:subject>
  <dc:creator>PptxGenJS</dc:creator>
  <cp:lastModifiedBy>Valentino Kasa</cp:lastModifiedBy>
  <cp:revision>43</cp:revision>
  <dcterms:created xsi:type="dcterms:W3CDTF">2026-05-26T18:28:44Z</dcterms:created>
  <dcterms:modified xsi:type="dcterms:W3CDTF">2026-06-14T13:19:24Z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442bec-f09e-4e00-abaa-cc323658ca68_Enabled">
    <vt:lpwstr>true</vt:lpwstr>
  </property>
  <property fmtid="{D5CDD505-2E9C-101B-9397-08002B2CF9AE}" pid="3" name="MSIP_Label_e8442bec-f09e-4e00-abaa-cc323658ca68_SetDate">
    <vt:lpwstr>2026-05-27T11:32:37Z</vt:lpwstr>
  </property>
  <property fmtid="{D5CDD505-2E9C-101B-9397-08002B2CF9AE}" pid="4" name="MSIP_Label_e8442bec-f09e-4e00-abaa-cc323658ca68_Method">
    <vt:lpwstr>Standard</vt:lpwstr>
  </property>
  <property fmtid="{D5CDD505-2E9C-101B-9397-08002B2CF9AE}" pid="5" name="MSIP_Label_e8442bec-f09e-4e00-abaa-cc323658ca68_Name">
    <vt:lpwstr>Internal</vt:lpwstr>
  </property>
  <property fmtid="{D5CDD505-2E9C-101B-9397-08002B2CF9AE}" pid="6" name="MSIP_Label_e8442bec-f09e-4e00-abaa-cc323658ca68_SiteId">
    <vt:lpwstr>b6ad2cf5-3533-463d-8986-d1c95ab386fb</vt:lpwstr>
  </property>
  <property fmtid="{D5CDD505-2E9C-101B-9397-08002B2CF9AE}" pid="7" name="MSIP_Label_e8442bec-f09e-4e00-abaa-cc323658ca68_ActionId">
    <vt:lpwstr>38f4b1d6-5608-4c85-b023-cc34cf1ba60d</vt:lpwstr>
  </property>
  <property fmtid="{D5CDD505-2E9C-101B-9397-08002B2CF9AE}" pid="8" name="MSIP_Label_e8442bec-f09e-4e00-abaa-cc323658ca68_ContentBits">
    <vt:lpwstr>0</vt:lpwstr>
  </property>
  <property fmtid="{D5CDD505-2E9C-101B-9397-08002B2CF9AE}" pid="9" name="MSIP_Label_e8442bec-f09e-4e00-abaa-cc323658ca68_Tag">
    <vt:lpwstr>10, 3, 0, 1</vt:lpwstr>
  </property>
</Properties>
</file>